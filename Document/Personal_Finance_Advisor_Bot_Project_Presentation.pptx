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1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869680" y="640080"/>
            <a:ext cx="2103120" cy="210312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784080" y="3017520"/>
            <a:ext cx="1280160" cy="1280160"/>
          </a:xfrm>
          <a:prstGeom prst="round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955279" y="3840480"/>
            <a:ext cx="1005840" cy="1005840"/>
          </a:xfrm>
          <a:prstGeom prst="roundRect">
            <a:avLst/>
          </a:prstGeom>
          <a:solidFill>
            <a:srgbClr val="4C7D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7132320" cy="4114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500" b="1">
                <a:solidFill>
                  <a:srgbClr val="96D2DC"/>
                </a:solidFill>
                <a:latin typeface="Aptos"/>
              </a:rPr>
              <a:t>AI BFSI CERTIFICATE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7315200" cy="1463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Personal Finance
Advisor 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6858000" cy="8229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800" b="0">
                <a:solidFill>
                  <a:srgbClr val="E1E8F0"/>
                </a:solidFill>
                <a:latin typeface="Aptos"/>
              </a:rPr>
              <a:t>A web application for tracking income, expenses,
savings goals, and budget guidance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23560"/>
            <a:ext cx="6858000" cy="215444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100" b="0" dirty="0">
                <a:solidFill>
                  <a:srgbClr val="FFFFFF"/>
                </a:solidFill>
                <a:latin typeface="Aptos"/>
              </a:rPr>
              <a:t>Student: </a:t>
            </a:r>
            <a:r>
              <a:rPr lang="en-US" sz="1100" dirty="0">
                <a:solidFill>
                  <a:srgbClr val="FFFFFF"/>
                </a:solidFill>
                <a:latin typeface="Aptos"/>
              </a:rPr>
              <a:t>Raj </a:t>
            </a:r>
            <a:r>
              <a:rPr lang="en-US" sz="1100" dirty="0" err="1">
                <a:solidFill>
                  <a:srgbClr val="FFFFFF"/>
                </a:solidFill>
                <a:latin typeface="Aptos"/>
              </a:rPr>
              <a:t>Karale</a:t>
            </a:r>
            <a:r>
              <a:rPr sz="1100" b="0">
                <a:solidFill>
                  <a:srgbClr val="FFFFFF"/>
                </a:solidFill>
                <a:latin typeface="Aptos"/>
              </a:rPr>
              <a:t>   </a:t>
            </a:r>
            <a:endParaRPr sz="11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6080760"/>
            <a:ext cx="10424160" cy="2286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000" b="0">
                <a:solidFill>
                  <a:srgbClr val="C8D7E6"/>
                </a:solidFill>
                <a:latin typeface="Aptos"/>
              </a:rPr>
              <a:t>GitHub: github.com/rajkarale2007-rgb/personal-finance-advisor-bot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800" b="1">
                <a:solidFill>
                  <a:srgbClr val="17365D"/>
                </a:solidFill>
                <a:latin typeface="Aptos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05840" cy="54864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24712"/>
            <a:ext cx="10789920" cy="3657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646E78"/>
                </a:solidFill>
                <a:latin typeface="Aptos"/>
              </a:rPr>
              <a:t>Why a personal finance assistant is useful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429000" cy="2286000"/>
          </a:xfrm>
          <a:prstGeom prst="roundRect">
            <a:avLst/>
          </a:prstGeom>
          <a:solidFill>
            <a:srgbClr val="EEF4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965960"/>
            <a:ext cx="309981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2F75B5"/>
                </a:solidFill>
                <a:latin typeface="Aptos"/>
              </a:rPr>
              <a:t>Scattered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59152"/>
            <a:ext cx="3099816" cy="162763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Aptos"/>
              </a:rPr>
              <a:t>Income and daily expenses can be tracked in different places, making it hard to see the full picture.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429000" cy="2286000"/>
          </a:xfrm>
          <a:prstGeom prst="roundRect">
            <a:avLst/>
          </a:prstGeom>
          <a:solidFill>
            <a:srgbClr val="EEF4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3712" y="1965960"/>
            <a:ext cx="309981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1B9191"/>
                </a:solidFill>
                <a:latin typeface="Aptos"/>
              </a:rPr>
              <a:t>Limited visibility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359152"/>
            <a:ext cx="3099816" cy="162763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Aptos"/>
              </a:rPr>
              <a:t>Without summaries, users may overlook spending patterns or exceed intended budgets.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828800"/>
            <a:ext cx="3429000" cy="2286000"/>
          </a:xfrm>
          <a:prstGeom prst="roundRect">
            <a:avLst/>
          </a:prstGeom>
          <a:solidFill>
            <a:srgbClr val="EEF4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57031" y="1965960"/>
            <a:ext cx="309981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17365D"/>
                </a:solidFill>
                <a:latin typeface="Aptos"/>
              </a:rPr>
              <a:t>Savings planning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2359152"/>
            <a:ext cx="3099816" cy="162763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Aptos"/>
              </a:rPr>
              <a:t>Users need a simple way to set goals, monitor progress, and consider budget adjustments.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09160"/>
            <a:ext cx="10424160" cy="7315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/>
            <a:r>
              <a:rPr sz="2100" b="1">
                <a:solidFill>
                  <a:srgbClr val="17365D"/>
                </a:solidFill>
                <a:latin typeface="Aptos"/>
              </a:rPr>
              <a:t>Project idea: bring core finance records, visual summaries, and budgeting guidance into one web interface.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800" b="0">
                <a:solidFill>
                  <a:srgbClr val="646E78"/>
                </a:solidFill>
                <a:latin typeface="Aptos"/>
              </a:rPr>
              <a:t>PERSONAL FINANCE ADVISOR BOT  |  PROJECT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73952"/>
            <a:ext cx="548640" cy="20116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800" b="1">
                <a:solidFill>
                  <a:srgbClr val="17365D"/>
                </a:solidFill>
                <a:latin typeface="Aptos"/>
              </a:rPr>
              <a:t>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05840" cy="54864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24712"/>
            <a:ext cx="10789920" cy="3657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646E78"/>
                </a:solidFill>
                <a:latin typeface="Aptos"/>
              </a:rPr>
              <a:t>Core outcomes of the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4297680"/>
          </a:xfrm>
          <a:prstGeom prst="rect">
            <a:avLst/>
          </a:prstGeom>
          <a:noFill/>
        </p:spPr>
        <p:txBody>
          <a:bodyPr wrap="square" lIns="73152" tIns="27432" rIns="4572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Secure registration, login, and logout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Record income from different sources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Record and categorize expenses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Create and monitor savings goals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Display finance summaries and charts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Generate general budgeting suggestions using AI or local rules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Export supported finance records to 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800" b="0">
                <a:solidFill>
                  <a:srgbClr val="646E78"/>
                </a:solidFill>
                <a:latin typeface="Aptos"/>
              </a:rPr>
              <a:t>PERSONAL FINANCE ADVISOR BOT  | 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20116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800" b="1">
                <a:solidFill>
                  <a:srgbClr val="17365D"/>
                </a:solidFill>
                <a:latin typeface="Aptos"/>
              </a:rP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05840" cy="54864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24712"/>
            <a:ext cx="10789920" cy="3657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646E78"/>
                </a:solidFill>
                <a:latin typeface="Aptos"/>
              </a:rPr>
              <a:t>Tools and their roles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103120" cy="1325880"/>
          </a:xfrm>
          <a:prstGeom prst="roundRect">
            <a:avLst/>
          </a:prstGeom>
          <a:solidFill>
            <a:srgbClr val="EEF4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783080"/>
            <a:ext cx="177393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2F75B5"/>
                </a:solidFill>
                <a:latin typeface="Aptos"/>
              </a:rPr>
              <a:t>Python + Flask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76272"/>
            <a:ext cx="1773936" cy="66751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Aptos"/>
              </a:rPr>
              <a:t>Backend application and web routes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645920"/>
            <a:ext cx="2103120" cy="1325880"/>
          </a:xfrm>
          <a:prstGeom prst="roundRect">
            <a:avLst/>
          </a:prstGeom>
          <a:solidFill>
            <a:srgbClr val="EEF4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76472" y="1783080"/>
            <a:ext cx="177393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2F75B5"/>
                </a:solidFill>
                <a:latin typeface="Aptos"/>
              </a:rPr>
              <a:t>Flask-Login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6472" y="2176272"/>
            <a:ext cx="1773936" cy="66751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Aptos"/>
              </a:rPr>
              <a:t>Authentication and session support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645920"/>
            <a:ext cx="2103120" cy="1325880"/>
          </a:xfrm>
          <a:prstGeom prst="roundRect">
            <a:avLst/>
          </a:prstGeom>
          <a:solidFill>
            <a:srgbClr val="EEF4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56831" y="1783080"/>
            <a:ext cx="177393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2F75B5"/>
                </a:solidFill>
                <a:latin typeface="Aptos"/>
              </a:rPr>
              <a:t>SQLAlchemy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1" y="2176272"/>
            <a:ext cx="1773936" cy="66751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Aptos"/>
              </a:rPr>
              <a:t>Database models and queries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1645920"/>
            <a:ext cx="2103120" cy="1325880"/>
          </a:xfrm>
          <a:prstGeom prst="roundRect">
            <a:avLst/>
          </a:prstGeom>
          <a:solidFill>
            <a:srgbClr val="EEF4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37192" y="1783080"/>
            <a:ext cx="177393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2F75B5"/>
                </a:solidFill>
                <a:latin typeface="Aptos"/>
              </a:rPr>
              <a:t>SQLite / PostgreSQL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37192" y="2176272"/>
            <a:ext cx="1773936" cy="66751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Aptos"/>
              </a:rPr>
              <a:t>Relational data storage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337560"/>
            <a:ext cx="2103120" cy="1325880"/>
          </a:xfrm>
          <a:prstGeom prst="roundRect">
            <a:avLst/>
          </a:prstGeom>
          <a:solidFill>
            <a:srgbClr val="EEF4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3474720"/>
            <a:ext cx="177393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2F75B5"/>
                </a:solidFill>
                <a:latin typeface="Aptos"/>
              </a:rPr>
              <a:t>Jinja2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867911"/>
            <a:ext cx="1773936" cy="66751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Aptos"/>
              </a:rPr>
              <a:t>HTML template rendering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3337560"/>
            <a:ext cx="2103120" cy="1325880"/>
          </a:xfrm>
          <a:prstGeom prst="roundRect">
            <a:avLst/>
          </a:prstGeom>
          <a:solidFill>
            <a:srgbClr val="EEF4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76472" y="3474720"/>
            <a:ext cx="177393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2F75B5"/>
                </a:solidFill>
                <a:latin typeface="Aptos"/>
              </a:rPr>
              <a:t>Chart.js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6472" y="3867911"/>
            <a:ext cx="1773936" cy="66751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Aptos"/>
              </a:rPr>
              <a:t>Dashboard charts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3337560"/>
            <a:ext cx="2103120" cy="1325880"/>
          </a:xfrm>
          <a:prstGeom prst="roundRect">
            <a:avLst/>
          </a:prstGeom>
          <a:solidFill>
            <a:srgbClr val="EEF4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56831" y="3474720"/>
            <a:ext cx="177393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2F75B5"/>
                </a:solidFill>
                <a:latin typeface="Aptos"/>
              </a:rPr>
              <a:t>Gemini API / local rules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6831" y="3867911"/>
            <a:ext cx="1773936" cy="66751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Aptos"/>
              </a:rPr>
              <a:t>Optional AI advice with local fallback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72600" y="3337560"/>
            <a:ext cx="2103120" cy="1325880"/>
          </a:xfrm>
          <a:prstGeom prst="roundRect">
            <a:avLst/>
          </a:prstGeom>
          <a:solidFill>
            <a:srgbClr val="EEF4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37192" y="3474720"/>
            <a:ext cx="177393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2F75B5"/>
                </a:solidFill>
                <a:latin typeface="Aptos"/>
              </a:rPr>
              <a:t>Ngrok / hosting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37192" y="3867911"/>
            <a:ext cx="1773936" cy="66751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Aptos"/>
              </a:rPr>
              <a:t>Demo exposure or deployment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800" b="0">
                <a:solidFill>
                  <a:srgbClr val="646E78"/>
                </a:solidFill>
                <a:latin typeface="Aptos"/>
              </a:rPr>
              <a:t>PERSONAL FINANCE ADVISOR BOT  |  PROJECT PRESENTATION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73952"/>
            <a:ext cx="548640" cy="20116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800" b="1">
                <a:solidFill>
                  <a:srgbClr val="17365D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05840" cy="54864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24712"/>
            <a:ext cx="10789920" cy="3657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646E78"/>
                </a:solidFill>
                <a:latin typeface="Aptos"/>
              </a:rPr>
              <a:t>High-level request and data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2084831" cy="1965960"/>
          </a:xfrm>
          <a:prstGeom prst="roundRect">
            <a:avLst/>
          </a:prstGeom>
          <a:solidFill>
            <a:srgbClr val="EEF4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2286000"/>
            <a:ext cx="1755648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2F75B5"/>
                </a:solidFill>
                <a:latin typeface="Aptos"/>
              </a:rPr>
              <a:t>1. Browser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679192"/>
            <a:ext cx="1755648" cy="1307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Aptos"/>
              </a:rPr>
              <a:t>Forms, dashboard, charts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24911" y="2834640"/>
            <a:ext cx="256032" cy="3657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/>
            <a:r>
              <a:rPr sz="2200" b="1">
                <a:solidFill>
                  <a:srgbClr val="1B9191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2148840"/>
            <a:ext cx="2084831" cy="1965960"/>
          </a:xfrm>
          <a:prstGeom prst="roundRect">
            <a:avLst/>
          </a:prstGeom>
          <a:solidFill>
            <a:srgbClr val="EEF4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36392" y="2286000"/>
            <a:ext cx="1755648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2F75B5"/>
                </a:solidFill>
                <a:latin typeface="Aptos"/>
              </a:rPr>
              <a:t>2. Flask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2679192"/>
            <a:ext cx="1755648" cy="1307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Aptos"/>
              </a:rPr>
              <a:t>Routes, validation, authentication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56631" y="2834640"/>
            <a:ext cx="256032" cy="3657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/>
            <a:r>
              <a:rPr sz="2200" b="1">
                <a:solidFill>
                  <a:srgbClr val="1B9191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2148840"/>
            <a:ext cx="2084831" cy="1965960"/>
          </a:xfrm>
          <a:prstGeom prst="roundRect">
            <a:avLst/>
          </a:prstGeom>
          <a:solidFill>
            <a:srgbClr val="EEF4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68112" y="2286000"/>
            <a:ext cx="1755648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1B9191"/>
                </a:solidFill>
                <a:latin typeface="Aptos"/>
              </a:rPr>
              <a:t>3. Advisory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8112" y="2679192"/>
            <a:ext cx="1755648" cy="1307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Aptos"/>
              </a:rPr>
              <a:t>Gemini API or local rule-based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88352" y="2834640"/>
            <a:ext cx="256032" cy="3657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/>
            <a:r>
              <a:rPr sz="2200" b="1">
                <a:solidFill>
                  <a:srgbClr val="1B9191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2148840"/>
            <a:ext cx="2084831" cy="1965960"/>
          </a:xfrm>
          <a:prstGeom prst="roundRect">
            <a:avLst/>
          </a:prstGeom>
          <a:solidFill>
            <a:srgbClr val="EEF4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99831" y="2286000"/>
            <a:ext cx="1755648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2F75B5"/>
                </a:solidFill>
                <a:latin typeface="Aptos"/>
              </a:rPr>
              <a:t>4. SQLAlchemy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9831" y="2679192"/>
            <a:ext cx="1755648" cy="1307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Aptos"/>
              </a:rPr>
              <a:t>Database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0072" y="2834640"/>
            <a:ext cx="256032" cy="3657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/>
            <a:r>
              <a:rPr sz="2200" b="1">
                <a:solidFill>
                  <a:srgbClr val="1B9191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66959" y="2148840"/>
            <a:ext cx="2084831" cy="1965960"/>
          </a:xfrm>
          <a:prstGeom prst="roundRect">
            <a:avLst/>
          </a:prstGeom>
          <a:solidFill>
            <a:srgbClr val="EEF4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131551" y="2286000"/>
            <a:ext cx="1755648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2F75B5"/>
                </a:solidFill>
                <a:latin typeface="Aptos"/>
              </a:rPr>
              <a:t>5. 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31551" y="2679192"/>
            <a:ext cx="1755648" cy="1307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Aptos"/>
              </a:rPr>
              <a:t>Users, income, expenses, goals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92040"/>
            <a:ext cx="10241280" cy="6400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/>
            <a:r>
              <a:rPr sz="1600" b="1">
                <a:solidFill>
                  <a:srgbClr val="17365D"/>
                </a:solidFill>
                <a:latin typeface="Aptos"/>
              </a:rPr>
              <a:t>Typical flow: user input → Flask validation → database update → dashboard summary or advisory response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800" b="0">
                <a:solidFill>
                  <a:srgbClr val="646E78"/>
                </a:solidFill>
                <a:latin typeface="Aptos"/>
              </a:rPr>
              <a:t>PERSONAL FINANCE ADVISOR BOT  |  PROJECT PRESENTATION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73952"/>
            <a:ext cx="548640" cy="20116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800" b="1">
                <a:solidFill>
                  <a:srgbClr val="17365D"/>
                </a:solidFill>
                <a:latin typeface="Aptos"/>
              </a:rPr>
              <a:t>Main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05840" cy="54864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24712"/>
            <a:ext cx="10789920" cy="3657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646E78"/>
                </a:solidFill>
                <a:latin typeface="Aptos"/>
              </a:rPr>
              <a:t>Functional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3383280" cy="1554480"/>
          </a:xfrm>
          <a:prstGeom prst="roundRect">
            <a:avLst/>
          </a:prstGeom>
          <a:solidFill>
            <a:srgbClr val="EEF4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1783080"/>
            <a:ext cx="305409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2F75B5"/>
                </a:solidFill>
                <a:latin typeface="Aptos"/>
              </a:rPr>
              <a:t>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176272"/>
            <a:ext cx="3054096" cy="89611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Aptos"/>
              </a:rPr>
              <a:t>User accounts and protected routes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645920"/>
            <a:ext cx="3383280" cy="1554480"/>
          </a:xfrm>
          <a:prstGeom prst="roundRect">
            <a:avLst/>
          </a:prstGeom>
          <a:solidFill>
            <a:srgbClr val="EEF4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36592" y="1783080"/>
            <a:ext cx="305409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2F75B5"/>
                </a:solidFill>
                <a:latin typeface="Aptos"/>
              </a:rPr>
              <a:t>Income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6592" y="2176272"/>
            <a:ext cx="3054096" cy="89611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Aptos"/>
              </a:rPr>
              <a:t>Multiple income entries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1645920"/>
            <a:ext cx="3383280" cy="1554480"/>
          </a:xfrm>
          <a:prstGeom prst="roundRect">
            <a:avLst/>
          </a:prstGeom>
          <a:solidFill>
            <a:srgbClr val="EEF4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31352" y="1783080"/>
            <a:ext cx="305409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2F75B5"/>
                </a:solidFill>
                <a:latin typeface="Aptos"/>
              </a:rPr>
              <a:t>Expense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352" y="2176272"/>
            <a:ext cx="3054096" cy="89611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Aptos"/>
              </a:rPr>
              <a:t>Amount, date, and category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703320"/>
            <a:ext cx="3383280" cy="1554480"/>
          </a:xfrm>
          <a:prstGeom prst="roundRect">
            <a:avLst/>
          </a:prstGeom>
          <a:solidFill>
            <a:srgbClr val="EEF4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" y="3840480"/>
            <a:ext cx="305409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1B9191"/>
                </a:solidFill>
                <a:latin typeface="Aptos"/>
              </a:rPr>
              <a:t>Savings goals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233672"/>
            <a:ext cx="3054096" cy="89611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Aptos"/>
              </a:rPr>
              <a:t>User-defined targets and progress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703320"/>
            <a:ext cx="3383280" cy="1554480"/>
          </a:xfrm>
          <a:prstGeom prst="roundRect">
            <a:avLst/>
          </a:prstGeom>
          <a:solidFill>
            <a:srgbClr val="EEF4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36592" y="3840480"/>
            <a:ext cx="305409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1B9191"/>
                </a:solidFill>
                <a:latin typeface="Aptos"/>
              </a:rPr>
              <a:t>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4233672"/>
            <a:ext cx="3054096" cy="89611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Aptos"/>
              </a:rPr>
              <a:t>Summaries and visual charts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3703320"/>
            <a:ext cx="3383280" cy="1554480"/>
          </a:xfrm>
          <a:prstGeom prst="roundRect">
            <a:avLst/>
          </a:prstGeom>
          <a:solidFill>
            <a:srgbClr val="EEF4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31352" y="3840480"/>
            <a:ext cx="305409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2F75B5"/>
                </a:solidFill>
                <a:latin typeface="Aptos"/>
              </a:rPr>
              <a:t>CSV export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1352" y="4233672"/>
            <a:ext cx="3054096" cy="89611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Aptos"/>
              </a:rPr>
              <a:t>Download records for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800" b="0">
                <a:solidFill>
                  <a:srgbClr val="646E78"/>
                </a:solidFill>
                <a:latin typeface="Aptos"/>
              </a:rPr>
              <a:t>PERSONAL FINANCE ADVISOR BOT  |  PROJECT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73952"/>
            <a:ext cx="548640" cy="20116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800" b="1">
                <a:solidFill>
                  <a:srgbClr val="17365D"/>
                </a:solidFill>
                <a:latin typeface="Aptos"/>
              </a:rPr>
              <a:t>AI Advisory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05840" cy="54864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24712"/>
            <a:ext cx="10789920" cy="3657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646E78"/>
                </a:solidFill>
                <a:latin typeface="Aptos"/>
              </a:rPr>
              <a:t>Two paths for budget-oriented guidance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4846320" cy="2286000"/>
          </a:xfrm>
          <a:prstGeom prst="roundRect">
            <a:avLst/>
          </a:prstGeom>
          <a:solidFill>
            <a:srgbClr val="EEF4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965960"/>
            <a:ext cx="451713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2F75B5"/>
                </a:solidFill>
                <a:latin typeface="Aptos"/>
              </a:rPr>
              <a:t>Option A — Gemini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359152"/>
            <a:ext cx="4517136" cy="162763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Aptos"/>
              </a:rPr>
              <a:t>When configured, an external AI service can generate contextual suggestions based on the information supplied to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828800"/>
            <a:ext cx="4846320" cy="2286000"/>
          </a:xfrm>
          <a:prstGeom prst="roundRect">
            <a:avLst/>
          </a:prstGeom>
          <a:solidFill>
            <a:srgbClr val="EEF4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56831" y="1965960"/>
            <a:ext cx="451713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1B9191"/>
                </a:solidFill>
                <a:latin typeface="Aptos"/>
              </a:rPr>
              <a:t>Option B — Local advisor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6831" y="2359152"/>
            <a:ext cx="4517136" cy="162763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Aptos"/>
              </a:rPr>
              <a:t>When no API key is configured, local rule-based logic can provide basic guidance without an external AI call.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663440"/>
            <a:ext cx="9966960" cy="9144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/>
            <a:r>
              <a:rPr sz="1600" b="1">
                <a:solidFill>
                  <a:srgbClr val="17365D"/>
                </a:solidFill>
                <a:latin typeface="Aptos"/>
              </a:rPr>
              <a:t>Responsible use: advice is educational and informational—not guaranteed financial, tax, or investment advice. Protect API keys and sensitive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800" b="0">
                <a:solidFill>
                  <a:srgbClr val="646E78"/>
                </a:solidFill>
                <a:latin typeface="Aptos"/>
              </a:rPr>
              <a:t>PERSONAL FINANCE ADVISOR BOT  |  PROJECT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548640" cy="20116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800" b="1">
                <a:solidFill>
                  <a:srgbClr val="17365D"/>
                </a:solidFill>
                <a:latin typeface="Aptos"/>
              </a:rPr>
              <a:t>Database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05840" cy="54864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24712"/>
            <a:ext cx="10789920" cy="3657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646E78"/>
                </a:solidFill>
                <a:latin typeface="Aptos"/>
              </a:rPr>
              <a:t>Core data models described in the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2423160" cy="1645920"/>
          </a:xfrm>
          <a:prstGeom prst="roundRect">
            <a:avLst/>
          </a:prstGeom>
          <a:solidFill>
            <a:srgbClr val="EEF4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2194560"/>
            <a:ext cx="209397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2F75B5"/>
                </a:solidFill>
                <a:latin typeface="Aptos"/>
              </a:rPr>
              <a:t>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587752"/>
            <a:ext cx="2093976" cy="98755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Aptos"/>
              </a:rPr>
              <a:t>Account and authentication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057400"/>
            <a:ext cx="2423160" cy="1645920"/>
          </a:xfrm>
          <a:prstGeom prst="roundRect">
            <a:avLst/>
          </a:prstGeom>
          <a:solidFill>
            <a:srgbClr val="EEF4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22191" y="2194560"/>
            <a:ext cx="209397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2F75B5"/>
                </a:solidFill>
                <a:latin typeface="Aptos"/>
              </a:rPr>
              <a:t>Income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22191" y="2587752"/>
            <a:ext cx="2093976" cy="98755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Aptos"/>
              </a:rPr>
              <a:t>Income entries linked to a user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057400"/>
            <a:ext cx="2423160" cy="1645920"/>
          </a:xfrm>
          <a:prstGeom prst="roundRect">
            <a:avLst/>
          </a:prstGeom>
          <a:solidFill>
            <a:srgbClr val="EEF4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56832" y="2194560"/>
            <a:ext cx="209397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2F75B5"/>
                </a:solidFill>
                <a:latin typeface="Aptos"/>
              </a:rPr>
              <a:t>Expense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2587752"/>
            <a:ext cx="2093976" cy="98755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Aptos"/>
              </a:rPr>
              <a:t>Expense entries and categories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2057400"/>
            <a:ext cx="2423160" cy="1645920"/>
          </a:xfrm>
          <a:prstGeom prst="roundRect">
            <a:avLst/>
          </a:prstGeom>
          <a:solidFill>
            <a:srgbClr val="EEF4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91472" y="2194560"/>
            <a:ext cx="209397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1B9191"/>
                </a:solidFill>
                <a:latin typeface="Aptos"/>
              </a:rPr>
              <a:t>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91472" y="2587752"/>
            <a:ext cx="2093976" cy="98755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Aptos"/>
              </a:rPr>
              <a:t>Savings target and progress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72000"/>
            <a:ext cx="10241280" cy="7315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/>
            <a:r>
              <a:rPr sz="1600" b="1">
                <a:solidFill>
                  <a:srgbClr val="17365D"/>
                </a:solidFill>
                <a:latin typeface="Aptos"/>
              </a:rPr>
              <a:t>Relationship principle: one user can have multiple income records, expenses, and savings goals. Queries should enforce user-level access.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800" b="0">
                <a:solidFill>
                  <a:srgbClr val="646E78"/>
                </a:solidFill>
                <a:latin typeface="Aptos"/>
              </a:rPr>
              <a:t>PERSONAL FINANCE ADVISOR BOT  |  PROJECT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548640" cy="20116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800" b="1">
                <a:solidFill>
                  <a:srgbClr val="17365D"/>
                </a:solidFill>
                <a:latin typeface="Aptos"/>
              </a:rPr>
              <a:t>Testing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05840" cy="54864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24712"/>
            <a:ext cx="10789920" cy="3657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646E78"/>
                </a:solidFill>
                <a:latin typeface="Aptos"/>
              </a:rPr>
              <a:t>Validate the actual running application before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10424160" cy="4480560"/>
          </a:xfrm>
          <a:prstGeom prst="rect">
            <a:avLst/>
          </a:prstGeom>
          <a:noFill/>
        </p:spPr>
        <p:txBody>
          <a:bodyPr wrap="square" lIns="73152" tIns="27432" rIns="45720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Registration, login, logout, and protected routes</a:t>
            </a:r>
          </a:p>
          <a:p>
            <a:pPr>
              <a:spcAft>
                <a:spcPts val="6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User-level data isolation between accounts</a:t>
            </a:r>
          </a:p>
          <a:p>
            <a:pPr>
              <a:spcAft>
                <a:spcPts val="6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Create and review income and expense entries</a:t>
            </a:r>
          </a:p>
          <a:p>
            <a:pPr>
              <a:spcAft>
                <a:spcPts val="6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Savings goal creation and progress display</a:t>
            </a:r>
          </a:p>
          <a:p>
            <a:pPr>
              <a:spcAft>
                <a:spcPts val="6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Dashboard totals match saved test data</a:t>
            </a:r>
          </a:p>
          <a:p>
            <a:pPr>
              <a:spcAft>
                <a:spcPts val="6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Local advisor works without an API key; API path handles errors</a:t>
            </a:r>
          </a:p>
          <a:p>
            <a:pPr>
              <a:spcAft>
                <a:spcPts val="6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CSV export downloads expected records</a:t>
            </a:r>
          </a:p>
          <a:p>
            <a:pPr>
              <a:spcAft>
                <a:spcPts val="6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Deployment URL and main workflows work correctly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97880"/>
            <a:ext cx="1024128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1">
                <a:solidFill>
                  <a:srgbClr val="AA3C2D"/>
                </a:solidFill>
                <a:latin typeface="Aptos"/>
              </a:rPr>
              <a:t>Record actual Pass / Fail / Not tested results; do not report unrun tests as passed.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800" b="0">
                <a:solidFill>
                  <a:srgbClr val="646E78"/>
                </a:solidFill>
                <a:latin typeface="Aptos"/>
              </a:rPr>
              <a:t>PERSONAL FINANCE ADVISOR BOT  |  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548640" cy="20116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800" b="1">
                <a:solidFill>
                  <a:srgbClr val="17365D"/>
                </a:solidFill>
                <a:latin typeface="Aptos"/>
              </a:rPr>
              <a:t>Security and 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05840" cy="54864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24712"/>
            <a:ext cx="10789920" cy="3657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646E78"/>
                </a:solidFill>
                <a:latin typeface="Aptos"/>
              </a:rPr>
              <a:t>Important considerations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5120640" cy="3108960"/>
          </a:xfrm>
          <a:prstGeom prst="roundRect">
            <a:avLst/>
          </a:prstGeom>
          <a:solidFill>
            <a:srgbClr val="EEF4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1828800"/>
            <a:ext cx="4791455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2F75B5"/>
                </a:solidFill>
                <a:latin typeface="Aptos"/>
              </a:rPr>
              <a:t>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221992"/>
            <a:ext cx="4791455" cy="2450591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Aptos"/>
              </a:rPr>
              <a:t>• Keep API keys and secrets out of GitHub
• Hash passwords
• Check authorization on user-owned records
• Use HTTPS for public deployments
• Avoid real sensitive data in demos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91640"/>
            <a:ext cx="5120640" cy="3108960"/>
          </a:xfrm>
          <a:prstGeom prst="roundRect">
            <a:avLst/>
          </a:prstGeom>
          <a:solidFill>
            <a:srgbClr val="EEF4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231" y="1828800"/>
            <a:ext cx="4791455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1B9191"/>
                </a:solidFill>
                <a:latin typeface="Aptos"/>
              </a:rPr>
              <a:t>Future enhancements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1" y="2221992"/>
            <a:ext cx="4791455" cy="2450591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Aptos"/>
              </a:rPr>
              <a:t>• Recurring transactions and monthly budgets
• Budget-threshold alerts
• PDF reports and date filters
• More automated tests
• Improved accessibility and mobile layout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57800"/>
            <a:ext cx="10241280" cy="4572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/>
            <a:r>
              <a:rPr sz="1500" b="1">
                <a:solidFill>
                  <a:srgbClr val="17365D"/>
                </a:solidFill>
                <a:latin typeface="Aptos"/>
              </a:rPr>
              <a:t>Current scope: personal record-keeping and basic budget guidance—not bank synchronization or financial guarantees.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800" b="0">
                <a:solidFill>
                  <a:srgbClr val="646E78"/>
                </a:solidFill>
                <a:latin typeface="Aptos"/>
              </a:rPr>
              <a:t>PERSONAL FINANCE ADVISOR BOT  |  PROJECT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548640" cy="20116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800" b="1">
                <a:solidFill>
                  <a:srgbClr val="17365D"/>
                </a:solidFill>
                <a:latin typeface="Aptos"/>
              </a:rPr>
              <a:t>Application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05840" cy="54864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24712"/>
            <a:ext cx="10789920" cy="3657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646E78"/>
                </a:solidFill>
                <a:latin typeface="Aptos"/>
              </a:rPr>
              <a:t>Add actual screenshots from your running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3108960"/>
          </a:xfrm>
          <a:prstGeom prst="roundRect">
            <a:avLst/>
          </a:prstGeom>
          <a:solidFill>
            <a:srgbClr val="EEF4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783080"/>
            <a:ext cx="314553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2F75B5"/>
                </a:solidFill>
                <a:latin typeface="Aptos"/>
              </a:rPr>
              <a:t>1.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76272"/>
            <a:ext cx="3145536" cy="2450591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Aptos"/>
              </a:rPr>
              <a:t>[Insert dashboard screenshot]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474720" cy="3108960"/>
          </a:xfrm>
          <a:prstGeom prst="roundRect">
            <a:avLst/>
          </a:prstGeom>
          <a:solidFill>
            <a:srgbClr val="EEF4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3712" y="1783080"/>
            <a:ext cx="314553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1B9191"/>
                </a:solidFill>
                <a:latin typeface="Aptos"/>
              </a:rPr>
              <a:t>2. Spending chart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176272"/>
            <a:ext cx="3145536" cy="2450591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Aptos"/>
              </a:rPr>
              <a:t>[Insert chart screenshot]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474720" cy="3108960"/>
          </a:xfrm>
          <a:prstGeom prst="roundRect">
            <a:avLst/>
          </a:prstGeom>
          <a:solidFill>
            <a:srgbClr val="EEF4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11312" y="1783080"/>
            <a:ext cx="314553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17365D"/>
                </a:solidFill>
                <a:latin typeface="Aptos"/>
              </a:rPr>
              <a:t>3. Advisor / 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2176272"/>
            <a:ext cx="3145536" cy="2450591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Aptos"/>
              </a:rPr>
              <a:t>[Insert advisor or goals screenshot]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12080"/>
            <a:ext cx="10241280" cy="4572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/>
            <a:r>
              <a:rPr sz="1300" b="0">
                <a:solidFill>
                  <a:srgbClr val="646E78"/>
                </a:solidFill>
                <a:latin typeface="Aptos"/>
              </a:rPr>
              <a:t>Demo video / repository: github.com/rajkarale2007-rgb/personal-finance-advisor-bot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800" b="0">
                <a:solidFill>
                  <a:srgbClr val="646E78"/>
                </a:solidFill>
                <a:latin typeface="Aptos"/>
              </a:rPr>
              <a:t>PERSONAL FINANCE ADVISOR BOT  |  PROJECT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73952"/>
            <a:ext cx="548640" cy="20116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77240"/>
            <a:ext cx="10515600" cy="5486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45920"/>
            <a:ext cx="10241280" cy="1463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The Personal Finance Advisor Bot combines finance tracking, savings-goal monitoring, charts, and budgeting guidance in one web application.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429000"/>
            <a:ext cx="10241280" cy="9144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700" b="0">
                <a:solidFill>
                  <a:srgbClr val="D2E1EE"/>
                </a:solidFill>
                <a:latin typeface="Aptos"/>
              </a:rPr>
              <a:t>Next steps: verify implementation details, insert real screenshots, complete testing, and confirm deployment before submission.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806440"/>
            <a:ext cx="10241280" cy="3657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100" b="0">
                <a:solidFill>
                  <a:srgbClr val="C8D7E6"/>
                </a:solidFill>
                <a:latin typeface="Aptos"/>
              </a:rPr>
              <a:t>GitHub: github.com/rajkarale2007-rgb/personal-finance-advisor-bot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20116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/>
            <a:r>
              <a:rPr sz="900" b="0">
                <a:solidFill>
                  <a:srgbClr val="C8D7E6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831</Words>
  <Application>Microsoft Office PowerPoint</Application>
  <PresentationFormat>Widescreen</PresentationFormat>
  <Paragraphs>142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 KARALE</cp:lastModifiedBy>
  <cp:revision>2</cp:revision>
  <dcterms:created xsi:type="dcterms:W3CDTF">2013-01-27T09:14:16Z</dcterms:created>
  <dcterms:modified xsi:type="dcterms:W3CDTF">2026-10-24T12:44:40Z</dcterms:modified>
  <cp:category/>
</cp:coreProperties>
</file>